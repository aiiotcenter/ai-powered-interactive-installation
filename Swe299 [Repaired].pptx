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982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Takımı tanıt, iki haftalık ilerleme güncellemesi olduğunu belirt.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slaytı hızlıca geç — amaç zaten tanıdık. Geri kalanında nasıl yaklaştığımıza odaklan.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Araştırmanın ne kadar zaman aldığını vurgula. EEG donanım araştırması en fazla zamanı aldı.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Pipeline'ı soldan sağa anlat. Gerçek zamanlı döngü vurgusunu yap.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Henüz tüm araçları tam uygulamadık — hâlâ EEG kütüphanelerini keşfediyoruz. OpenCV deneyleri daha ilerlemede.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Araştırma çalışmasını küçümseme — bu da ilerleme. Donanım bağımlılığına dikkat çek.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pseudo-kod — henüz çalışan kod değil. Mantığı temsil ediyor. Gerçek uygulama donanım geldikten sonra başlıyor.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Zorlukları açıkça göstermek olgunluğu gösterir. Bunların tümü BCI araştırmasında iyi bilinen sorunlardır.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Güçlü bir kapanışla bitir. Araştırma sağlam, yol haritası net. Donanım ana bağımlılık.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2560320" cy="1943100"/>
          </a:xfrm>
          <a:prstGeom prst="rect">
            <a:avLst/>
          </a:prstGeom>
          <a:solidFill>
            <a:srgbClr val="3D1F0F"/>
          </a:solidFill>
          <a:ln w="12700">
            <a:solidFill>
              <a:srgbClr val="3D1F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931920"/>
            <a:ext cx="1463040" cy="1211580"/>
          </a:xfrm>
          <a:prstGeom prst="rect">
            <a:avLst/>
          </a:prstGeom>
          <a:solidFill>
            <a:srgbClr val="FF6B2B">
              <a:alpha val="12000"/>
            </a:srgbClr>
          </a:solidFill>
          <a:ln w="12700">
            <a:solidFill>
              <a:srgbClr val="FF6B2B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6B2B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320040" y="3858768"/>
            <a:ext cx="41148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Progress  ·  Weeks 1–2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4681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 ·  AI  ·  REAL-TIME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installation that transforms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brainwave signals into living art.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56032" y="2304288"/>
            <a:ext cx="2011680" cy="2514600"/>
          </a:xfrm>
          <a:prstGeom prst="rect">
            <a:avLst/>
          </a:prstGeom>
          <a:solidFill>
            <a:srgbClr val="161616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2304288"/>
            <a:ext cx="201168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50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99923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364992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brainwave data from a headset in real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32304" y="2304288"/>
            <a:ext cx="2011680" cy="2514600"/>
          </a:xfrm>
          <a:prstGeom prst="rect">
            <a:avLst/>
          </a:prstGeom>
          <a:solidFill>
            <a:srgbClr val="161616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2304288"/>
            <a:ext cx="201168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2450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42032" y="299923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3364992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signals and maps them to visual states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08576" y="2304288"/>
            <a:ext cx="2011680" cy="2514600"/>
          </a:xfrm>
          <a:prstGeom prst="rect">
            <a:avLst/>
          </a:prstGeom>
          <a:solidFill>
            <a:srgbClr val="161616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2304288"/>
            <a:ext cx="201168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2450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18304" y="299923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3364992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shapes and effects change live on screen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84848" y="2304288"/>
            <a:ext cx="2011680" cy="2514600"/>
          </a:xfrm>
          <a:prstGeom prst="rect">
            <a:avLst/>
          </a:prstGeom>
          <a:solidFill>
            <a:srgbClr val="161616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4848" y="2304288"/>
            <a:ext cx="201168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24505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94576" y="2999232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4576" y="3364992"/>
            <a:ext cx="17922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Viewer's mental state continuously drives the art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217627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days of research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any code.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685800"/>
            <a:ext cx="36576" cy="42062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731520"/>
            <a:ext cx="201168" cy="201168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713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Headsets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98755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Emotiv, Muse, OpenBCI hardware &amp; Python streams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1536192"/>
            <a:ext cx="201168" cy="201168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179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Art Projects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79222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brain-computer interface creative implementations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2340864"/>
            <a:ext cx="201168" cy="201168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225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259689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Processing, p5.js, OpenCV for live rendering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3145536"/>
            <a:ext cx="201168" cy="201168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127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40156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/ beta / theta band filtering &amp; noise reduction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3950208"/>
            <a:ext cx="201168" cy="201168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Artworks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2062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teamLab, Random International — art &amp; tech fusion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645920"/>
            <a:ext cx="1426464" cy="1298448"/>
          </a:xfrm>
          <a:prstGeom prst="rect">
            <a:avLst/>
          </a:prstGeom>
          <a:solidFill>
            <a:srgbClr val="1C1C1C"/>
          </a:solidFill>
          <a:ln w="15240">
            <a:solidFill>
              <a:srgbClr val="FF6B2B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45920"/>
            <a:ext cx="1426464" cy="2011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901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7472" y="25968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headset worn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2272284"/>
            <a:ext cx="201168" cy="45720"/>
          </a:xfrm>
          <a:prstGeom prst="rect">
            <a:avLst/>
          </a:prstGeom>
          <a:solidFill>
            <a:srgbClr val="FF6B2B">
              <a:alpha val="70000"/>
            </a:srgbClr>
          </a:solidFill>
          <a:ln w="12700">
            <a:solidFill>
              <a:srgbClr val="FF6B2B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5104" y="2203704"/>
            <a:ext cx="73152" cy="182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48256" y="1645920"/>
            <a:ext cx="1426464" cy="1298448"/>
          </a:xfrm>
          <a:prstGeom prst="rect">
            <a:avLst/>
          </a:prstGeom>
          <a:solidFill>
            <a:srgbClr val="1C1C1C"/>
          </a:solidFill>
          <a:ln w="15240">
            <a:solidFill>
              <a:srgbClr val="E0A020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48256" y="1645920"/>
            <a:ext cx="1426464" cy="201168"/>
          </a:xfrm>
          <a:prstGeom prst="rect">
            <a:avLst/>
          </a:prstGeom>
          <a:solidFill>
            <a:srgbClr val="E0A020"/>
          </a:solidFill>
          <a:ln w="12700">
            <a:solidFill>
              <a:srgbClr val="E0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901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48256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48256" y="25968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 stream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29584" y="2272284"/>
            <a:ext cx="201168" cy="45720"/>
          </a:xfrm>
          <a:prstGeom prst="rect">
            <a:avLst/>
          </a:prstGeom>
          <a:solidFill>
            <a:srgbClr val="FF6B2B">
              <a:alpha val="70000"/>
            </a:srgbClr>
          </a:solidFill>
          <a:ln w="12700">
            <a:solidFill>
              <a:srgbClr val="FF6B2B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5888" y="2203704"/>
            <a:ext cx="73152" cy="182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645920"/>
            <a:ext cx="1426464" cy="1298448"/>
          </a:xfrm>
          <a:prstGeom prst="rect">
            <a:avLst/>
          </a:prstGeom>
          <a:solidFill>
            <a:srgbClr val="1C1C1C"/>
          </a:solidFill>
          <a:ln w="15240">
            <a:solidFill>
              <a:srgbClr val="B06820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645920"/>
            <a:ext cx="1426464" cy="201168"/>
          </a:xfrm>
          <a:prstGeom prst="rect">
            <a:avLst/>
          </a:prstGeom>
          <a:solidFill>
            <a:srgbClr val="B06820"/>
          </a:solidFill>
          <a:ln w="12700">
            <a:solidFill>
              <a:srgbClr val="B06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901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49040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49040" y="25968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extract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30368" y="2272284"/>
            <a:ext cx="201168" cy="45720"/>
          </a:xfrm>
          <a:prstGeom prst="rect">
            <a:avLst/>
          </a:prstGeom>
          <a:solidFill>
            <a:srgbClr val="FF6B2B">
              <a:alpha val="70000"/>
            </a:srgbClr>
          </a:solidFill>
          <a:ln w="12700">
            <a:solidFill>
              <a:srgbClr val="FF6B2B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76672" y="2203704"/>
            <a:ext cx="73152" cy="182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1645920"/>
            <a:ext cx="1426464" cy="1298448"/>
          </a:xfrm>
          <a:prstGeom prst="rect">
            <a:avLst/>
          </a:prstGeom>
          <a:solidFill>
            <a:srgbClr val="1C1C1C"/>
          </a:solidFill>
          <a:ln w="15240">
            <a:solidFill>
              <a:srgbClr val="8A3A10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1645920"/>
            <a:ext cx="1426464" cy="201168"/>
          </a:xfrm>
          <a:prstGeom prst="rect">
            <a:avLst/>
          </a:prstGeom>
          <a:solidFill>
            <a:srgbClr val="8A3A10"/>
          </a:solidFill>
          <a:ln w="12700">
            <a:solidFill>
              <a:srgbClr val="8A3A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1901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49824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49824" y="25968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visual state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931152" y="2272284"/>
            <a:ext cx="201168" cy="45720"/>
          </a:xfrm>
          <a:prstGeom prst="rect">
            <a:avLst/>
          </a:prstGeom>
          <a:solidFill>
            <a:srgbClr val="FF6B2B">
              <a:alpha val="70000"/>
            </a:srgbClr>
          </a:solidFill>
          <a:ln w="12700">
            <a:solidFill>
              <a:srgbClr val="FF6B2B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77456" y="2203704"/>
            <a:ext cx="73152" cy="182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0608" y="1645920"/>
            <a:ext cx="1426464" cy="1298448"/>
          </a:xfrm>
          <a:prstGeom prst="rect">
            <a:avLst/>
          </a:prstGeom>
          <a:solidFill>
            <a:srgbClr val="1C1C1C"/>
          </a:solidFill>
          <a:ln w="15240">
            <a:solidFill>
              <a:srgbClr val="FF6B2B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1645920"/>
            <a:ext cx="1426464" cy="2011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0608" y="190195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150608" y="23317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50608" y="25968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art output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" y="3246120"/>
            <a:ext cx="8449056" cy="621792"/>
          </a:xfrm>
          <a:prstGeom prst="rect">
            <a:avLst/>
          </a:prstGeom>
          <a:solidFill>
            <a:srgbClr val="3D1F0F"/>
          </a:solidFill>
          <a:ln w="7620">
            <a:solidFill>
              <a:srgbClr val="FF6B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33756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stages run in a continuous real-time loop  ·  Latency between EEG input and visual output is our primary design constraint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4206240" cy="4114800"/>
          </a:xfrm>
          <a:prstGeom prst="rect">
            <a:avLst/>
          </a:prstGeom>
          <a:solidFill>
            <a:srgbClr val="161616"/>
          </a:solidFill>
          <a:ln w="15240">
            <a:solidFill>
              <a:srgbClr val="FF6B2B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13232"/>
            <a:ext cx="4206240" cy="2743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43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56032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6032" y="24871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621024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26080"/>
            <a:ext cx="3913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language for signal processing, AI logic, and system integration across all modules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713232"/>
            <a:ext cx="2011680" cy="1920240"/>
          </a:xfrm>
          <a:prstGeom prst="rect">
            <a:avLst/>
          </a:prstGeom>
          <a:solidFill>
            <a:srgbClr val="161616"/>
          </a:solidFill>
          <a:ln w="10160">
            <a:solidFill>
              <a:srgbClr val="3A8A6E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13232"/>
            <a:ext cx="2011680" cy="182880"/>
          </a:xfrm>
          <a:prstGeom prst="rect">
            <a:avLst/>
          </a:prstGeom>
          <a:solidFill>
            <a:srgbClr val="3A8A6E"/>
          </a:solidFill>
          <a:ln w="12700">
            <a:solidFill>
              <a:srgbClr val="3A8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50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17556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 &amp; rendering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39712" y="713232"/>
            <a:ext cx="2011680" cy="1920240"/>
          </a:xfrm>
          <a:prstGeom prst="rect">
            <a:avLst/>
          </a:prstGeom>
          <a:solidFill>
            <a:srgbClr val="161616"/>
          </a:solidFill>
          <a:ln w="10160">
            <a:solidFill>
              <a:srgbClr val="6E4A8A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39712" y="713232"/>
            <a:ext cx="2011680" cy="182880"/>
          </a:xfrm>
          <a:prstGeom prst="rect">
            <a:avLst/>
          </a:prstGeom>
          <a:solidFill>
            <a:srgbClr val="6E4A8A"/>
          </a:solidFill>
          <a:ln w="12700">
            <a:solidFill>
              <a:srgbClr val="6E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950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39712" y="14447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Libraries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39712" y="17556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MNE-Python, brainflow, pylsl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816352"/>
            <a:ext cx="2011680" cy="1920240"/>
          </a:xfrm>
          <a:prstGeom prst="rect">
            <a:avLst/>
          </a:prstGeom>
          <a:solidFill>
            <a:srgbClr val="161616"/>
          </a:solidFill>
          <a:ln w="10160">
            <a:solidFill>
              <a:srgbClr val="8A6A30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16352"/>
            <a:ext cx="2011680" cy="182880"/>
          </a:xfrm>
          <a:prstGeom prst="rect">
            <a:avLst/>
          </a:prstGeom>
          <a:solidFill>
            <a:srgbClr val="8A6A30"/>
          </a:solidFill>
          <a:ln w="12700">
            <a:solidFill>
              <a:srgbClr val="8A6A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054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663440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385876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display engine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39712" y="2816352"/>
            <a:ext cx="2011680" cy="1920240"/>
          </a:xfrm>
          <a:prstGeom prst="rect">
            <a:avLst/>
          </a:prstGeom>
          <a:solidFill>
            <a:srgbClr val="161616"/>
          </a:solidFill>
          <a:ln w="10160">
            <a:solidFill>
              <a:srgbClr val="8A3A3A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39712" y="2816352"/>
            <a:ext cx="2011680" cy="182880"/>
          </a:xfrm>
          <a:prstGeom prst="rect">
            <a:avLst/>
          </a:prstGeom>
          <a:solidFill>
            <a:srgbClr val="8A3A3A"/>
          </a:solidFill>
          <a:ln w="12700">
            <a:solidFill>
              <a:srgbClr val="8A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39712" y="3054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39712" y="3547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39712" y="385876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signal classification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weeks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950976"/>
            <a:ext cx="164592" cy="1645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3088" y="9418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system research completed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481328"/>
            <a:ext cx="164592" cy="1645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147218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workflow planned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2011680"/>
            <a:ext cx="164592" cy="1645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33088" y="20025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Brainwave data structure analyzed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2542032"/>
            <a:ext cx="164592" cy="1645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25328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visualization experiments tested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3072384"/>
            <a:ext cx="164592" cy="1645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30632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interaction concepts defined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566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950976"/>
            <a:ext cx="164592" cy="164592"/>
          </a:xfrm>
          <a:prstGeom prst="rect">
            <a:avLst/>
          </a:prstGeom>
          <a:solidFill>
            <a:srgbClr val="0A0A0A"/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9168" y="941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signal synchronization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609344"/>
            <a:ext cx="164592" cy="164592"/>
          </a:xfrm>
          <a:prstGeom prst="rect">
            <a:avLst/>
          </a:prstGeom>
          <a:solidFill>
            <a:srgbClr val="0A0A0A"/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600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EEG hardware integration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267712"/>
            <a:ext cx="164592" cy="164592"/>
          </a:xfrm>
          <a:prstGeom prst="rect">
            <a:avLst/>
          </a:prstGeom>
          <a:solidFill>
            <a:srgbClr val="0A0A0A"/>
          </a:solidFill>
          <a:ln w="1016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22585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effect tuning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8503920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663440"/>
            <a:ext cx="5102352" cy="22860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708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dependency: EEG device expected Week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694944"/>
            <a:ext cx="5120640" cy="4169664"/>
          </a:xfrm>
          <a:prstGeom prst="rect">
            <a:avLst/>
          </a:prstGeom>
          <a:solidFill>
            <a:srgbClr val="0D0D0D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94944"/>
            <a:ext cx="5120640" cy="274320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13232"/>
            <a:ext cx="4864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signal_loop.py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097280"/>
            <a:ext cx="4864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EEG signal processing loop
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brainwave_data</a:t>
            </a: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read_eeg_signal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visual_state</a:t>
            </a: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process_signal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(brainwave_data)
</a:t>
            </a: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update_visuals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(visual_state)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2157984"/>
            <a:ext cx="4700016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286000"/>
            <a:ext cx="4864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React to attention level
</a:t>
            </a:r>
            <a:r>
              <a:rPr lang="en-US" sz="1200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attention_level </a:t>
            </a:r>
            <a:r>
              <a:rPr lang="en-US" sz="12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increase_color_intensity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r>
              <a:rPr lang="en-US" sz="1200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2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reduce_visual_activity</a:t>
            </a:r>
            <a:r>
              <a:rPr lang="en-US" sz="12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44622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Planning-stage pseudo-code. Full implementation pending hardware.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59552" y="749808"/>
            <a:ext cx="3328416" cy="658368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59552" y="749808"/>
            <a:ext cx="54864" cy="6583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804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0" y="10241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headset collects continuous brainwave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9552" y="1572768"/>
            <a:ext cx="3328416" cy="658368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1572768"/>
            <a:ext cx="54864" cy="6583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0" y="184708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filtered into frequency bands (alpha, beta, theta)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9552" y="2395728"/>
            <a:ext cx="3328416" cy="658368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59552" y="2395728"/>
            <a:ext cx="54864" cy="6583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450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0" y="267004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state updates dynamically on screen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59552" y="3218688"/>
            <a:ext cx="3328416" cy="658368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59552" y="3218688"/>
            <a:ext cx="54864" cy="6583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0" y="349300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attention triggers intense, vivid visual effects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59552" y="4041648"/>
            <a:ext cx="3328416" cy="658368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59552" y="4041648"/>
            <a:ext cx="54864" cy="6583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4096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69280" y="431596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attention produces calm, minimal visual activity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4160520" cy="1261872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5836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0624" y="11338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Signal Stability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0624" y="14081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headsets produce noisy, unstable data. Filtering algorithms are complex and require tuning.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2075688"/>
            <a:ext cx="4160520" cy="1261872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207568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20624" y="2551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 Brainwave Data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" y="28254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movements and electrical interference contaminate readings and affect interpretation accuracy.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493008"/>
            <a:ext cx="4160520" cy="1261872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349300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0624" y="39684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Signal–Visual Synchronization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" y="424281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EEG latency to rendering speed requires precise timing architecture at the system level.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658368"/>
            <a:ext cx="4160520" cy="1261872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65836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19472" y="11338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19472" y="14081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inference and real-time rendering simultaneously at usable frame rates is computationally demanding.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075688"/>
            <a:ext cx="4160520" cy="1261872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075688"/>
            <a:ext cx="54864" cy="12618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19472" y="25511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Visual Transitions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19472" y="28254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state changes from brainwave data cause jarring visual jumps — interpolation methods needed.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658368"/>
            <a:ext cx="5486400" cy="603504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22960"/>
            <a:ext cx="68580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229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8992" y="82296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 EEG hardware — stream live data into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426464"/>
            <a:ext cx="5486400" cy="603504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591056"/>
            <a:ext cx="68580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5910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8992" y="1591056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signal band extraction and noise filtering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194560"/>
            <a:ext cx="5486400" cy="603504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59152"/>
            <a:ext cx="68580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59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8992" y="235915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advanced real-time visual effects engine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962656"/>
            <a:ext cx="5486400" cy="603504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3127248"/>
            <a:ext cx="68580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1272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" y="3127248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interaction smoothness and response quality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3730752"/>
            <a:ext cx="5486400" cy="603504"/>
          </a:xfrm>
          <a:prstGeom prst="rect">
            <a:avLst/>
          </a:prstGeom>
          <a:solidFill>
            <a:srgbClr val="161616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895344"/>
            <a:ext cx="685800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8953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5+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" y="3895344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installation prototype complete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9320" y="658368"/>
            <a:ext cx="2898648" cy="3840480"/>
          </a:xfrm>
          <a:prstGeom prst="rect">
            <a:avLst/>
          </a:prstGeom>
          <a:solidFill>
            <a:srgbClr val="3D1F0F"/>
          </a:solidFill>
          <a:ln w="15240">
            <a:solidFill>
              <a:srgbClr val="FF6B2B"/>
            </a:solidFill>
            <a:prstDash val="solid"/>
          </a:ln>
          <a:effectLst>
            <a:outerShdw blurRad="2540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658368"/>
            <a:ext cx="2898648" cy="25603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667512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9632" y="1078992"/>
            <a:ext cx="164592" cy="164592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060704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complete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9632" y="1554480"/>
            <a:ext cx="164592" cy="164592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153619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design: done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9632" y="2029968"/>
            <a:ext cx="164592" cy="164592"/>
          </a:xfrm>
          <a:prstGeom prst="lin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011680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selected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2505456"/>
            <a:ext cx="164592" cy="164592"/>
          </a:xfrm>
          <a:prstGeom prst="lin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48716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started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9632" y="2980944"/>
            <a:ext cx="164592" cy="164592"/>
          </a:xfrm>
          <a:prstGeom prst="lin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96265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Week 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9632" y="3456432"/>
            <a:ext cx="164592" cy="164592"/>
          </a:xfrm>
          <a:prstGeom prst="lin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438144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pending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9632" y="3931920"/>
            <a:ext cx="2560320" cy="18288"/>
          </a:xfrm>
          <a:prstGeom prst="rect">
            <a:avLst/>
          </a:prstGeom>
          <a:solidFill>
            <a:srgbClr val="FF6B2B">
              <a:alpha val="50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development.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FF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update: Week 3.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</Words>
  <Application>Microsoft Office PowerPoint</Application>
  <PresentationFormat>Ekran Gösterisi (16:9)</PresentationFormat>
  <Paragraphs>162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Taha Gümüş</cp:lastModifiedBy>
  <cp:revision>2</cp:revision>
  <dcterms:created xsi:type="dcterms:W3CDTF">2026-05-20T22:48:05Z</dcterms:created>
  <dcterms:modified xsi:type="dcterms:W3CDTF">2026-05-21T12:36:56Z</dcterms:modified>
</cp:coreProperties>
</file>